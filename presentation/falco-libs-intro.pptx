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e9cc95c59394b56" /><Relationship Type="http://schemas.openxmlformats.org/officeDocument/2006/relationships/extended-properties" Target="/docProps/app.xml" Id="R5c32a99dcee049ce" /><Relationship Type="http://schemas.openxmlformats.org/officeDocument/2006/relationships/officeDocument" Target="/ppt/presentation.xml" Id="R070ee32bb1be435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5550fa8bad94c6f"/>
    <p:sldMasterId xmlns:r="http://schemas.openxmlformats.org/officeDocument/2006/relationships" id="2147483661" r:id="R0723a6703b39482f"/>
  </p:sldMasterIdLst>
  <p:notesMasterIdLst>
    <p:notesMasterId xmlns:r="http://schemas.openxmlformats.org/officeDocument/2006/relationships" r:id="Re64c12cde07e4f9b"/>
  </p:notesMasterIdLst>
  <p:sldIdLst>
    <p:sldId xmlns:r="http://schemas.openxmlformats.org/officeDocument/2006/relationships" id="256" r:id="Rff6fff4690a1487d"/>
    <p:sldId xmlns:r="http://schemas.openxmlformats.org/officeDocument/2006/relationships" id="257" r:id="R488bf42a04274575"/>
    <p:sldId xmlns:r="http://schemas.openxmlformats.org/officeDocument/2006/relationships" id="258" r:id="R725482f17ec34565"/>
    <p:sldId xmlns:r="http://schemas.openxmlformats.org/officeDocument/2006/relationships" id="259" r:id="Rab350e980d4d4a51"/>
    <p:sldId xmlns:r="http://schemas.openxmlformats.org/officeDocument/2006/relationships" id="260" r:id="Rcd4b731b48be43c3"/>
    <p:sldId xmlns:r="http://schemas.openxmlformats.org/officeDocument/2006/relationships" id="261" r:id="R14356ac4cbbc4e17"/>
    <p:sldId xmlns:r="http://schemas.openxmlformats.org/officeDocument/2006/relationships" id="262" r:id="R0692f4f3ca1b4b8a"/>
    <p:sldId xmlns:r="http://schemas.openxmlformats.org/officeDocument/2006/relationships" id="263" r:id="R6d0eda1cec424028"/>
    <p:sldId xmlns:r="http://schemas.openxmlformats.org/officeDocument/2006/relationships" id="264" r:id="R503eab5341974dfa"/>
    <p:sldId xmlns:r="http://schemas.openxmlformats.org/officeDocument/2006/relationships" id="265" r:id="Rc6ffd0fadea3435e"/>
    <p:sldId xmlns:r="http://schemas.openxmlformats.org/officeDocument/2006/relationships" id="266" r:id="Rc5e23a61676d4822"/>
    <p:sldId xmlns:r="http://schemas.openxmlformats.org/officeDocument/2006/relationships" id="267" r:id="R1fa896bd6c624ca1"/>
    <p:sldId xmlns:r="http://schemas.openxmlformats.org/officeDocument/2006/relationships" id="268" r:id="R81060abddb1d40af"/>
    <p:sldId xmlns:r="http://schemas.openxmlformats.org/officeDocument/2006/relationships" id="269" r:id="R634bf8b717544fd4"/>
    <p:sldId xmlns:r="http://schemas.openxmlformats.org/officeDocument/2006/relationships" id="270" r:id="Re7dc157e1aae402a"/>
    <p:sldId xmlns:r="http://schemas.openxmlformats.org/officeDocument/2006/relationships" id="271" r:id="Rdb3204923dc94aee"/>
    <p:sldId xmlns:r="http://schemas.openxmlformats.org/officeDocument/2006/relationships" id="272" r:id="Ra23fde807e3d4fd2"/>
    <p:sldId xmlns:r="http://schemas.openxmlformats.org/officeDocument/2006/relationships" id="273" r:id="Re03c0af45d9d4d6e"/>
    <p:sldId xmlns:r="http://schemas.openxmlformats.org/officeDocument/2006/relationships" id="274" r:id="R1346bd4d3b22497e"/>
    <p:sldId xmlns:r="http://schemas.openxmlformats.org/officeDocument/2006/relationships" id="275" r:id="Rde872e8a1b8d4136"/>
  </p:sldIdLst>
  <p:sldSz cx="9144000" cy="5143500"/>
  <p:notesSz cx="6858000" cy="9144000"/>
  <p:embeddedFontLst>
    <p:embeddedFont>
      <p:font typeface="Roboto Mono Medium"/>
      <p:regular xmlns:r="http://schemas.openxmlformats.org/officeDocument/2006/relationships" r:id="R9ffe12f5e7d74120"/>
      <p:bold xmlns:r="http://schemas.openxmlformats.org/officeDocument/2006/relationships" r:id="R5de9db69d2834cd1"/>
      <p:italic xmlns:r="http://schemas.openxmlformats.org/officeDocument/2006/relationships" r:id="R3fdc39dd358e42b7"/>
      <p:boldItalic xmlns:r="http://schemas.openxmlformats.org/officeDocument/2006/relationships" r:id="R08d15496361b46b5"/>
    </p:embeddedFont>
    <p:embeddedFont>
      <p:font typeface="Inter SemiBold"/>
      <p:regular xmlns:r="http://schemas.openxmlformats.org/officeDocument/2006/relationships" r:id="R2f61c7ececc442ae"/>
      <p:bold xmlns:r="http://schemas.openxmlformats.org/officeDocument/2006/relationships" r:id="R65afa766478f4f89"/>
      <p:italic xmlns:r="http://schemas.openxmlformats.org/officeDocument/2006/relationships" r:id="Rc8cc8e192c684213"/>
      <p:boldItalic xmlns:r="http://schemas.openxmlformats.org/officeDocument/2006/relationships" r:id="Rb19febd42fc54045"/>
    </p:embeddedFont>
    <p:embeddedFont>
      <p:font typeface="Montserrat Black"/>
      <p:bold xmlns:r="http://schemas.openxmlformats.org/officeDocument/2006/relationships" r:id="R036a79fd60af460a"/>
      <p:boldItalic xmlns:r="http://schemas.openxmlformats.org/officeDocument/2006/relationships" r:id="R5f03f014eb684635"/>
    </p:embeddedFont>
    <p:embeddedFont>
      <p:font typeface="Montserrat"/>
      <p:bold xmlns:r="http://schemas.openxmlformats.org/officeDocument/2006/relationships" r:id="R10ba7293b54b42af"/>
      <p:boldItalic xmlns:r="http://schemas.openxmlformats.org/officeDocument/2006/relationships" r:id="R558ef0c49812426b"/>
    </p:embeddedFont>
    <p:embeddedFont>
      <p:font typeface="Inter"/>
      <p:regular xmlns:r="http://schemas.openxmlformats.org/officeDocument/2006/relationships" r:id="R9fa39ac8001c4add"/>
      <p:bold xmlns:r="http://schemas.openxmlformats.org/officeDocument/2006/relationships" r:id="R08c70e4c40e64b9b"/>
      <p:italic xmlns:r="http://schemas.openxmlformats.org/officeDocument/2006/relationships" r:id="R391f487c8ded4fa7"/>
      <p:boldItalic xmlns:r="http://schemas.openxmlformats.org/officeDocument/2006/relationships" r:id="R5a28ef4aafcf4653"/>
    </p:embeddedFont>
    <p:embeddedFont>
      <p:font typeface="Montserrat ExtraBold"/>
      <p:bold xmlns:r="http://schemas.openxmlformats.org/officeDocument/2006/relationships" r:id="R87a076e0356448a7"/>
      <p:boldItalic xmlns:r="http://schemas.openxmlformats.org/officeDocument/2006/relationships" r:id="Recf81a4a1b3646a8"/>
    </p:embeddedFont>
    <p:embeddedFont>
      <p:font typeface="Roboto Mono"/>
      <p:bold xmlns:r="http://schemas.openxmlformats.org/officeDocument/2006/relationships" r:id="Ra3212bbb4caa4d69"/>
      <p:boldItalic xmlns:r="http://schemas.openxmlformats.org/officeDocument/2006/relationships" r:id="R28b06f887eee4ce8"/>
    </p:embeddedFont>
    <p:embeddedFont>
      <p:font typeface="Inter Medium"/>
      <p:regular xmlns:r="http://schemas.openxmlformats.org/officeDocument/2006/relationships" r:id="Rdc70d4fb5add4fb4"/>
      <p:bold xmlns:r="http://schemas.openxmlformats.org/officeDocument/2006/relationships" r:id="R2e9b930b5dac4d4a"/>
      <p:italic xmlns:r="http://schemas.openxmlformats.org/officeDocument/2006/relationships" r:id="Ree6cae09ca9249d1"/>
      <p:boldItalic xmlns:r="http://schemas.openxmlformats.org/officeDocument/2006/relationships" r:id="Raf764ce428754fe7"/>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6debeec7d64e462b" /><Relationship Type="http://schemas.openxmlformats.org/officeDocument/2006/relationships/slideMaster" Target="/ppt/slideMasters/slideMaster1.xml" Id="R25550fa8bad94c6f" /><Relationship Type="http://schemas.openxmlformats.org/officeDocument/2006/relationships/slideMaster" Target="/ppt/slideMasters/slideMaster2.xml" Id="R0723a6703b39482f" /><Relationship Type="http://schemas.openxmlformats.org/officeDocument/2006/relationships/notesMaster" Target="/ppt/notesMasters/notesMaster1.xml" Id="Re64c12cde07e4f9b" /><Relationship Type="http://schemas.openxmlformats.org/officeDocument/2006/relationships/presProps" Target="/ppt/presProps.xml" Id="Rdb384bdaeff14a16" /><Relationship Type="http://schemas.openxmlformats.org/officeDocument/2006/relationships/viewProps" Target="/ppt/viewProps.xml" Id="R806e92a5ef1641c0" /><Relationship Type="http://schemas.openxmlformats.org/officeDocument/2006/relationships/tableStyles" Target="/ppt/tableStyles.xml" Id="Rc5f0a88a7d0a4944" /><Relationship Type="http://schemas.openxmlformats.org/officeDocument/2006/relationships/font" Target="/ppt/fonts/font.dat" Id="R9ffe12f5e7d74120" /><Relationship Type="http://schemas.openxmlformats.org/officeDocument/2006/relationships/font" Target="/ppt/fonts/font2.dat" Id="R5de9db69d2834cd1" /><Relationship Type="http://schemas.openxmlformats.org/officeDocument/2006/relationships/font" Target="/ppt/fonts/font3.dat" Id="R3fdc39dd358e42b7" /><Relationship Type="http://schemas.openxmlformats.org/officeDocument/2006/relationships/font" Target="/ppt/fonts/font4.dat" Id="R08d15496361b46b5" /><Relationship Type="http://schemas.openxmlformats.org/officeDocument/2006/relationships/font" Target="/ppt/fonts/font5.dat" Id="R2f61c7ececc442ae" /><Relationship Type="http://schemas.openxmlformats.org/officeDocument/2006/relationships/font" Target="/ppt/fonts/font6.dat" Id="R65afa766478f4f89" /><Relationship Type="http://schemas.openxmlformats.org/officeDocument/2006/relationships/font" Target="/ppt/fonts/font7.dat" Id="Rc8cc8e192c684213" /><Relationship Type="http://schemas.openxmlformats.org/officeDocument/2006/relationships/font" Target="/ppt/fonts/font8.dat" Id="Rb19febd42fc54045" /><Relationship Type="http://schemas.openxmlformats.org/officeDocument/2006/relationships/font" Target="/ppt/fonts/font9.dat" Id="R036a79fd60af460a" /><Relationship Type="http://schemas.openxmlformats.org/officeDocument/2006/relationships/font" Target="/ppt/fonts/font10.dat" Id="R5f03f014eb684635" /><Relationship Type="http://schemas.openxmlformats.org/officeDocument/2006/relationships/font" Target="/ppt/fonts/font11.dat" Id="R10ba7293b54b42af" /><Relationship Type="http://schemas.openxmlformats.org/officeDocument/2006/relationships/font" Target="/ppt/fonts/font12.dat" Id="R558ef0c49812426b" /><Relationship Type="http://schemas.openxmlformats.org/officeDocument/2006/relationships/font" Target="/ppt/fonts/font13.dat" Id="R9fa39ac8001c4add" /><Relationship Type="http://schemas.openxmlformats.org/officeDocument/2006/relationships/font" Target="/ppt/fonts/font14.dat" Id="R08c70e4c40e64b9b" /><Relationship Type="http://schemas.openxmlformats.org/officeDocument/2006/relationships/font" Target="/ppt/fonts/font15.dat" Id="R391f487c8ded4fa7" /><Relationship Type="http://schemas.openxmlformats.org/officeDocument/2006/relationships/font" Target="/ppt/fonts/font16.dat" Id="R5a28ef4aafcf4653" /><Relationship Type="http://schemas.openxmlformats.org/officeDocument/2006/relationships/font" Target="/ppt/fonts/font17.dat" Id="R87a076e0356448a7" /><Relationship Type="http://schemas.openxmlformats.org/officeDocument/2006/relationships/font" Target="/ppt/fonts/font18.dat" Id="Recf81a4a1b3646a8" /><Relationship Type="http://schemas.openxmlformats.org/officeDocument/2006/relationships/font" Target="/ppt/fonts/font19.dat" Id="Ra3212bbb4caa4d69" /><Relationship Type="http://schemas.openxmlformats.org/officeDocument/2006/relationships/font" Target="/ppt/fonts/font20.dat" Id="R28b06f887eee4ce8" /><Relationship Type="http://schemas.openxmlformats.org/officeDocument/2006/relationships/font" Target="/ppt/fonts/font21.dat" Id="Rdc70d4fb5add4fb4" /><Relationship Type="http://schemas.openxmlformats.org/officeDocument/2006/relationships/font" Target="/ppt/fonts/font22.dat" Id="R2e9b930b5dac4d4a" /><Relationship Type="http://schemas.openxmlformats.org/officeDocument/2006/relationships/font" Target="/ppt/fonts/font23.dat" Id="Ree6cae09ca9249d1" /><Relationship Type="http://schemas.openxmlformats.org/officeDocument/2006/relationships/font" Target="/ppt/fonts/font24.dat" Id="Raf764ce428754fe7" /><Relationship Type="http://schemas.openxmlformats.org/officeDocument/2006/relationships/slide" Target="/ppt/slides/slide1.xml" Id="Rff6fff4690a1487d" /><Relationship Type="http://schemas.openxmlformats.org/officeDocument/2006/relationships/slide" Target="/ppt/slides/slide2.xml" Id="R488bf42a04274575" /><Relationship Type="http://schemas.openxmlformats.org/officeDocument/2006/relationships/slide" Target="/ppt/slides/slide3.xml" Id="R725482f17ec34565" /><Relationship Type="http://schemas.openxmlformats.org/officeDocument/2006/relationships/slide" Target="/ppt/slides/slide4.xml" Id="Rab350e980d4d4a51" /><Relationship Type="http://schemas.openxmlformats.org/officeDocument/2006/relationships/slide" Target="/ppt/slides/slide5.xml" Id="Rcd4b731b48be43c3" /><Relationship Type="http://schemas.openxmlformats.org/officeDocument/2006/relationships/slide" Target="/ppt/slides/slide6.xml" Id="R14356ac4cbbc4e17" /><Relationship Type="http://schemas.openxmlformats.org/officeDocument/2006/relationships/slide" Target="/ppt/slides/slide7.xml" Id="R0692f4f3ca1b4b8a" /><Relationship Type="http://schemas.openxmlformats.org/officeDocument/2006/relationships/slide" Target="/ppt/slides/slide8.xml" Id="R6d0eda1cec424028" /><Relationship Type="http://schemas.openxmlformats.org/officeDocument/2006/relationships/slide" Target="/ppt/slides/slide9.xml" Id="R503eab5341974dfa" /><Relationship Type="http://schemas.openxmlformats.org/officeDocument/2006/relationships/slide" Target="/ppt/slides/slide10.xml" Id="Rc6ffd0fadea3435e" /><Relationship Type="http://schemas.openxmlformats.org/officeDocument/2006/relationships/slide" Target="/ppt/slides/slide11.xml" Id="Rc5e23a61676d4822" /><Relationship Type="http://schemas.openxmlformats.org/officeDocument/2006/relationships/slide" Target="/ppt/slides/slide12.xml" Id="R1fa896bd6c624ca1" /><Relationship Type="http://schemas.openxmlformats.org/officeDocument/2006/relationships/slide" Target="/ppt/slides/slide13.xml" Id="R81060abddb1d40af" /><Relationship Type="http://schemas.openxmlformats.org/officeDocument/2006/relationships/slide" Target="/ppt/slides/slide14.xml" Id="R634bf8b717544fd4" /><Relationship Type="http://schemas.openxmlformats.org/officeDocument/2006/relationships/slide" Target="/ppt/slides/slide15.xml" Id="Re7dc157e1aae402a" /><Relationship Type="http://schemas.openxmlformats.org/officeDocument/2006/relationships/slide" Target="/ppt/slides/slide16.xml" Id="Rdb3204923dc94aee" /><Relationship Type="http://schemas.openxmlformats.org/officeDocument/2006/relationships/slide" Target="/ppt/slides/slide17.xml" Id="Ra23fde807e3d4fd2" /><Relationship Type="http://schemas.openxmlformats.org/officeDocument/2006/relationships/slide" Target="/ppt/slides/slide18.xml" Id="Re03c0af45d9d4d6e" /><Relationship Type="http://schemas.openxmlformats.org/officeDocument/2006/relationships/slide" Target="/ppt/slides/slide19.xml" Id="R1346bd4d3b22497e" /><Relationship Type="http://schemas.openxmlformats.org/officeDocument/2006/relationships/slide" Target="/ppt/slides/slide20.xml" Id="Rde872e8a1b8d41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c6b3199b3d9e46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691a5f9ca84c1c" /><Relationship Type="http://schemas.openxmlformats.org/officeDocument/2006/relationships/notesMaster" Target="/ppt/notesMasters/notesMaster1.xml" Id="R5029d85de16949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6477b70051405c" /><Relationship Type="http://schemas.openxmlformats.org/officeDocument/2006/relationships/notesMaster" Target="/ppt/notesMasters/notesMaster1.xml" Id="Ra14d3ec575ba4a6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b8983fd80e401f" /><Relationship Type="http://schemas.openxmlformats.org/officeDocument/2006/relationships/notesMaster" Target="/ppt/notesMasters/notesMaster1.xml" Id="R29167aafb8a34b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17c9f1a0984e71" /><Relationship Type="http://schemas.openxmlformats.org/officeDocument/2006/relationships/notesMaster" Target="/ppt/notesMasters/notesMaster1.xml" Id="R0f85e189d2374f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e6dc4e30574eec" /><Relationship Type="http://schemas.openxmlformats.org/officeDocument/2006/relationships/notesMaster" Target="/ppt/notesMasters/notesMaster1.xml" Id="R3b2061e8c8d642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1209ad9f014304" /><Relationship Type="http://schemas.openxmlformats.org/officeDocument/2006/relationships/notesMaster" Target="/ppt/notesMasters/notesMaster1.xml" Id="Rb93d58eb972c45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e5189ac32c4c69" /><Relationship Type="http://schemas.openxmlformats.org/officeDocument/2006/relationships/notesMaster" Target="/ppt/notesMasters/notesMaster1.xml" Id="R2b75b96d28134db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81361035514f86" /><Relationship Type="http://schemas.openxmlformats.org/officeDocument/2006/relationships/notesMaster" Target="/ppt/notesMasters/notesMaster1.xml" Id="Rd9fa5bf68b974bb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e66e18add542ea" /><Relationship Type="http://schemas.openxmlformats.org/officeDocument/2006/relationships/notesMaster" Target="/ppt/notesMasters/notesMaster1.xml" Id="R45fad56ec63c41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e42ebfb1c24f14" /><Relationship Type="http://schemas.openxmlformats.org/officeDocument/2006/relationships/notesMaster" Target="/ppt/notesMasters/notesMaster1.xml" Id="R77ea96b875da4e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b7a2d6120e49f1" /><Relationship Type="http://schemas.openxmlformats.org/officeDocument/2006/relationships/notesMaster" Target="/ppt/notesMasters/notesMaster1.xml" Id="Re48916933bda4c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54240d4de6401b" /><Relationship Type="http://schemas.openxmlformats.org/officeDocument/2006/relationships/notesMaster" Target="/ppt/notesMasters/notesMaster1.xml" Id="R8e07375595ad43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4abe6b6c15450c" /><Relationship Type="http://schemas.openxmlformats.org/officeDocument/2006/relationships/notesMaster" Target="/ppt/notesMasters/notesMaster1.xml" Id="R9f6bf8c760d94a8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0936da1ab24ba8" /><Relationship Type="http://schemas.openxmlformats.org/officeDocument/2006/relationships/notesMaster" Target="/ppt/notesMasters/notesMaster1.xml" Id="R1bbc93c56dbc4a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0bbd08d471e432d" /><Relationship Type="http://schemas.openxmlformats.org/officeDocument/2006/relationships/notesMaster" Target="/ppt/notesMasters/notesMaster1.xml" Id="Ra6fa5678a8504d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e11c21d1f984d57" /><Relationship Type="http://schemas.openxmlformats.org/officeDocument/2006/relationships/notesMaster" Target="/ppt/notesMasters/notesMaster1.xml" Id="R02c08309180a4e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091bf727df4ef3" /><Relationship Type="http://schemas.openxmlformats.org/officeDocument/2006/relationships/notesMaster" Target="/ppt/notesMasters/notesMaster1.xml" Id="Rdfb207a54cbb4a9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87dac6f0864945" /><Relationship Type="http://schemas.openxmlformats.org/officeDocument/2006/relationships/notesMaster" Target="/ppt/notesMasters/notesMaster1.xml" Id="R44d4de8a85ee43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23acbe50bc947cc" /><Relationship Type="http://schemas.openxmlformats.org/officeDocument/2006/relationships/notesMaster" Target="/ppt/notesMasters/notesMaster1.xml" Id="Re5fd7752b04c44b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2c1160b5c94f95" /><Relationship Type="http://schemas.openxmlformats.org/officeDocument/2006/relationships/notesMaster" Target="/ppt/notesMasters/notesMaster1.xml" Id="R556af68fb80442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Welcome to the BSides Atlanta workshop. We use a small C++ program to observe real Linux syscalls through libscap and libsinsp. Setup is on slide 2. Start the live introduction at slide 3, then work through the exercises. Plan roughly 10 minutes of introduction and 45 minutes of hands-on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 setup command for your host OS after cloning the repo. If Multipass is missing, the script asks before downloading and running Canonical’s installer. Approve the OS administrator prompt and complete the Windows installer. If a restart is requested, reboot and rerun setup. The script creates or starts the falco-lab Ubuntu VM, copies workshop code, installs dependencies, and builds the agent. Re-running setup preserves src/main.cpp in the VM. The Windows command applies its execution policy only to the new PowerShell process. Complete the first build before the workshop if possible. Sources: https://github.com/canonical/multipass/releases/tag/v1.16.4 and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Read the table from top to bottom. The driver observes the kernel. libscap brings those events into userspace. libsinsp reconstructs useful process and file context. Our application prints JSON and will add a detection. This workshop uses the libraries directly and does not load Falco YAML rules. Sources: https://github.com/falcosecurity/libs/tree/e72873882967cdd86b8753eca09ea3e9f91ccd4a and https://falco.org/docs/concepts/event-sources/kernel/.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Open src/main.cpp after showing this slide. Explain that next updates state and returns events that survive filtering. Timeout and filtered results are normal. The event pointer belongs to the inspector and must not be retained across subsequent next calls. The agent sends events to stdout and diagnostics to stderr. Source: src/main.cpp, and https://github.com/falcosecurity/libs/tree/e72873882967cdd86b8753eca09ea3e9f91ccd4a/userspace/libsinsp/sinsp.h.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what FD 3 means without the corresponding open history. The inspector needs relevant process and FD lifecycle events even if the application only prints file opens. node-agent repairs its capture set using the same library function as this project. State can be incomplete, including after event loss. Sources: src/main.cpp, node-agent/src/producer/collector/capture_set.cpp, https://github.com/falcosecurity/libs/tree/e72873882967cdd86b8753eca09ea3e9f91ccd4a/userspace/libsinsp/events/sinsp_events.h.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Switch to the live VM. Have attendees locate evt.type, evt.dir, evt.rawres, proc.name, proc.cmdline, and fd.name. The &lt; marker denotes exit. A successful open returns a nonnegative FD, and a negative result indicates failure. The dummy secret has no real credentials. A successful open does not prove that bytes were read or exfiltrated. Sources: the exercise slides and scripts/demo.sh. Open a second host terminal, then enter the same VM using multipass shell falco-lab.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default filter selects exit events so their result is available. PID values, timestamps, and exact syscall variants vary. File context may be null. The checkpoint is identifying which process opened the dummy secret and whether it succeeded. Read src/main.cpp from sinsp inspector to next(), then follow extraction into Json::writeString. The inspector owns the event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the exact commands in the exercise slides. First filter successful opens in the demo directory. Then filter failed opens by cat. Re-run the demo for each capture. The failure filter deliberately avoids fd.name, since a failed open may not populate FD state. Inspect evt.args for missing.txt. Source: the exercise slides and the pinned inspector/capture-set implementation at https://github.com/falcosecurity/libs/tree/e72873882967cdd86b8753eca09ea3e9f91ccd4a.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failed result is negative, and other failed cat opens may appear. The prior successful-open filter uses fd.name because valid FD state is more likely on success. Driver syscall selection and inspector filtering are different controls. An output filter cannot enable a syscall that was not captured. State repair preserves process and FD lifecycle context. Ask why capturing only file opens might leave process attribution incomplete.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Stop capture before rebuilding. The build reuses the Falco dependency build, so this change only needs an incremental rebuild. Restart the agent and rerun the demo. Missing field values are possible when context is unavailable. An unknown field should fail at startup. Sources: src/main.cpp and the exercise slides. This slide shows a vector fragment followed by a shell command, not a single executable code block. Edit the VM copy with nano src/main.cpp. Save with Ctrl-O followed by Enter; exit with Ctrl-X.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These are illustrative fragments, not captured evidence. On the stock Ubuntu VM proc.exepath is normally /usr/bin/cat. Actual command lines and paths depend on the demo directory. No extra function is needed. The named-field validation runs at startup.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Insert the detection at the LAB 4 comment. Check syscall type, exit direction, numeric successful result, the workshop path prefix, secret.txt suffix, and process name cat. This makes the condition independent of the output filter. Build, rerun the demo, and inspect events.jsonl with jq. Provide the solution slides if needed. This observes an open and does not block it. Sources: the exercise slides, the solution slides, scripts/demo.sh.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the first half of one insertion. Leave it inside the existing event loop immediately before JSON output. The next slide continues in the same scope. The explicit direction/type/result tests make the detection independent of the CLI output filter. JsonCpp null string fields become empty strings, while the numeric guard prevents missing results from becoming successes.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Check the path length before subtracting the suffix length. The demo should alert for cat opening secret.txt but not cat opening hello.txt, head opening secret.txt, a failed missing.txt open, or shell file creation. This teaching detection can miss activity performed by a different executable name and does not establish intent or exfiltration.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jq uses map-style keys for fields containing dots, for example .["proc.name"]. Inspect the full file if needed. Only successful cat opens of the demo secret should carry the alert. Emitted events still include the negative cases under the default filter. Do not use a custom filter that hides those cases during this verification.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Refer to the source map in these speaker notes. The library commit matches node-agent exactly. We intentionally kept one source file and omitted deployment and backend concerns to teach the reusable capture path. Sources: node-agent/src/producer/Dockerfile, collector/capture_set.cpp, collector/engine.cpp, filters_and_enrichment/field_extractor.cpp, helpers/helpers.cpp.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attendees to explain the pipeline in their own words. On shutdown the agent reports emitted, captured, and dropped counts. Captured is broader than emitted because state events and output filtering exist. Zero drops in this short demo is not a production performance result. The beginner detection can miss a differently named executable. Sources: src/main.cpp and the exercise slides.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linux-tools package for the running kernel can occur if the image kernel is older than repository packages. Installing the generic kernel/tools and rebooting aligns them. If compilation is killed, retain one build job, close competing VM work, check memory and rerun. If downloads fail, fix guest connectivity and retry without deleting caches. If probe loading still fails as root, save the full verifier/error output for the presenter. Check virtualization/IT policies if the VM itself cannot start.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Not all event types carry a file descriptor. Failed opens are a common reason for missing file state. Zero drops in a short demonstration does not establish production performance. If a script complains about carriage returns, use the original LF files from the ZIP and run with Bash.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In Windows PowerShell use the source-copy command on one line, or replace line-continuation backslashes with backticks. The relative source path is under the Ubuntu user home. VM deletion is optional. Source: https://canonical.com/multipass/docs/latest/reference/command-line-interface/transfer/.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e02dbf12c5407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444f4d8e8c4c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97c534249f4b6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d8d8b6661dc4ad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8a2c830dea49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6f4ad4b148d423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a409aa6bd7441f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7cfb756015149b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52ee0ac0b74c432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1e8324f40a840c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954f56a834e46b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702c3c69f54c49cc"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7d9f6b32cac24014"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5d6b21a69b9430e" /><Relationship Type="http://schemas.openxmlformats.org/officeDocument/2006/relationships/slideLayout" Target="/ppt/slideLayouts/slideLayout1.xml" Id="R1b97348e6fd947bf" /><Relationship Type="http://schemas.openxmlformats.org/officeDocument/2006/relationships/slideLayout" Target="/ppt/slideLayouts/slideLayout2.xml" Id="Refcfc1bf4dec4a12" /><Relationship Type="http://schemas.openxmlformats.org/officeDocument/2006/relationships/slideLayout" Target="/ppt/slideLayouts/slideLayout3.xml" Id="R4f0850a89af041c5" /><Relationship Type="http://schemas.openxmlformats.org/officeDocument/2006/relationships/slideLayout" Target="/ppt/slideLayouts/slideLayout4.xml" Id="R60c1f805d88847a0" /><Relationship Type="http://schemas.openxmlformats.org/officeDocument/2006/relationships/slideLayout" Target="/ppt/slideLayouts/slideLayout5.xml" Id="Rf48cd20369b54bfb" /><Relationship Type="http://schemas.openxmlformats.org/officeDocument/2006/relationships/slideLayout" Target="/ppt/slideLayouts/slideLayout6.xml" Id="R7d42deeb487e44fd" /><Relationship Type="http://schemas.openxmlformats.org/officeDocument/2006/relationships/slideLayout" Target="/ppt/slideLayouts/slideLayout7.xml" Id="R849abaeae9fd4dd3" /><Relationship Type="http://schemas.openxmlformats.org/officeDocument/2006/relationships/slideLayout" Target="/ppt/slideLayouts/slideLayout8.xml" Id="Red1255ecc628483f" /><Relationship Type="http://schemas.openxmlformats.org/officeDocument/2006/relationships/slideLayout" Target="/ppt/slideLayouts/slideLayout9.xml" Id="R65f7e38190c1432b" /><Relationship Type="http://schemas.openxmlformats.org/officeDocument/2006/relationships/slideLayout" Target="/ppt/slideLayouts/slideLayout10.xml" Id="R2b187fe31bb44186" /><Relationship Type="http://schemas.openxmlformats.org/officeDocument/2006/relationships/slideLayout" Target="/ppt/slideLayouts/slideLayout11.xml" Id="Ra461a24c1fa144b7" /><Relationship Type="http://schemas.openxmlformats.org/officeDocument/2006/relationships/slideLayout" Target="/ppt/slideLayouts/slideLayout12.xml" Id="R89e56aa8577c4ee3"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b40ca402203e4a9b" /><Relationship Type="http://schemas.openxmlformats.org/officeDocument/2006/relationships/slideLayout" Target="/ppt/slideLayouts/slideLayout13.xml" Id="R9c27d10a0e8f4a72"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1b97348e6fd947bf"/>
    <p:sldLayoutId xmlns:r="http://schemas.openxmlformats.org/officeDocument/2006/relationships" id="2147483650" r:id="Refcfc1bf4dec4a12"/>
    <p:sldLayoutId xmlns:r="http://schemas.openxmlformats.org/officeDocument/2006/relationships" id="2147483651" r:id="R4f0850a89af041c5"/>
    <p:sldLayoutId xmlns:r="http://schemas.openxmlformats.org/officeDocument/2006/relationships" id="2147483652" r:id="R60c1f805d88847a0"/>
    <p:sldLayoutId xmlns:r="http://schemas.openxmlformats.org/officeDocument/2006/relationships" id="2147483653" r:id="Rf48cd20369b54bfb"/>
    <p:sldLayoutId xmlns:r="http://schemas.openxmlformats.org/officeDocument/2006/relationships" id="2147483654" r:id="R7d42deeb487e44fd"/>
    <p:sldLayoutId xmlns:r="http://schemas.openxmlformats.org/officeDocument/2006/relationships" id="2147483655" r:id="R849abaeae9fd4dd3"/>
    <p:sldLayoutId xmlns:r="http://schemas.openxmlformats.org/officeDocument/2006/relationships" id="2147483656" r:id="Red1255ecc628483f"/>
    <p:sldLayoutId xmlns:r="http://schemas.openxmlformats.org/officeDocument/2006/relationships" id="2147483657" r:id="R65f7e38190c1432b"/>
    <p:sldLayoutId xmlns:r="http://schemas.openxmlformats.org/officeDocument/2006/relationships" id="2147483658" r:id="R2b187fe31bb44186"/>
    <p:sldLayoutId xmlns:r="http://schemas.openxmlformats.org/officeDocument/2006/relationships" id="2147483659" r:id="Ra461a24c1fa144b7"/>
    <p:sldLayoutId xmlns:r="http://schemas.openxmlformats.org/officeDocument/2006/relationships" id="2147483660" r:id="R89e56aa8577c4ee3"/>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9c27d10a0e8f4a7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5e4e0c000544ee" /><Relationship Type="http://schemas.openxmlformats.org/officeDocument/2006/relationships/image" Target="/ppt/media/image.png" Id="Rfb311fe5c38b4ae5" /><Relationship Type="http://schemas.openxmlformats.org/officeDocument/2006/relationships/notesSlide" Target="/ppt/notesSlides/notesSlide1.xml" Id="Rcf7de26200fb42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0794a0bac0c4929" /><Relationship Type="http://schemas.openxmlformats.org/officeDocument/2006/relationships/image" Target="/ppt/media/image.png" Id="R7cc477393cc94056" /><Relationship Type="http://schemas.openxmlformats.org/officeDocument/2006/relationships/notesSlide" Target="/ppt/notesSlides/notesSlide2.xml" Id="R5398958e9ad84f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fbf614012474dbe" /><Relationship Type="http://schemas.openxmlformats.org/officeDocument/2006/relationships/image" Target="/ppt/media/image.png" Id="Rfc5dda1da739400e" /><Relationship Type="http://schemas.openxmlformats.org/officeDocument/2006/relationships/notesSlide" Target="/ppt/notesSlides/notesSlide3.xml" Id="R97d0e6cdc33543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5e7e2918db4af9" /><Relationship Type="http://schemas.openxmlformats.org/officeDocument/2006/relationships/image" Target="/ppt/media/image.png" Id="R1926e78c12ab463f" /><Relationship Type="http://schemas.openxmlformats.org/officeDocument/2006/relationships/notesSlide" Target="/ppt/notesSlides/notesSlide4.xml" Id="R64756aa6bbe240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d4c48157f847a4" /><Relationship Type="http://schemas.openxmlformats.org/officeDocument/2006/relationships/image" Target="/ppt/media/image.png" Id="R678734f102474f6e" /><Relationship Type="http://schemas.openxmlformats.org/officeDocument/2006/relationships/notesSlide" Target="/ppt/notesSlides/notesSlide5.xml" Id="Rb751367fdf2f4a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d58ac6c4a394403" /><Relationship Type="http://schemas.openxmlformats.org/officeDocument/2006/relationships/image" Target="/ppt/media/image.png" Id="Rc2853ddb7d32405a" /><Relationship Type="http://schemas.openxmlformats.org/officeDocument/2006/relationships/notesSlide" Target="/ppt/notesSlides/notesSlide6.xml" Id="Rd378fd86e71944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7e0d758a435440c" /><Relationship Type="http://schemas.openxmlformats.org/officeDocument/2006/relationships/image" Target="/ppt/media/image.png" Id="Rf0b04cfe45984542" /><Relationship Type="http://schemas.openxmlformats.org/officeDocument/2006/relationships/notesSlide" Target="/ppt/notesSlides/notesSlide7.xml" Id="Rd87e84063ce94d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376dba64fbb4d46" /><Relationship Type="http://schemas.openxmlformats.org/officeDocument/2006/relationships/image" Target="/ppt/media/image.png" Id="Re3e4acb822ad4c13" /><Relationship Type="http://schemas.openxmlformats.org/officeDocument/2006/relationships/notesSlide" Target="/ppt/notesSlides/notesSlide8.xml" Id="R0c421891e9954c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30652e30c54e74" /><Relationship Type="http://schemas.openxmlformats.org/officeDocument/2006/relationships/image" Target="/ppt/media/image.png" Id="Rd84c4e9fa2d547d7" /><Relationship Type="http://schemas.openxmlformats.org/officeDocument/2006/relationships/notesSlide" Target="/ppt/notesSlides/notesSlide9.xml" Id="Rdc560baa37e044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0b2e1cb5d641c7" /><Relationship Type="http://schemas.openxmlformats.org/officeDocument/2006/relationships/image" Target="/ppt/media/image.png" Id="R232ef03012864447" /><Relationship Type="http://schemas.openxmlformats.org/officeDocument/2006/relationships/notesSlide" Target="/ppt/notesSlides/notesSlide10.xml" Id="Rdb4c0566013140f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e4c96b2b1264f41" /><Relationship Type="http://schemas.openxmlformats.org/officeDocument/2006/relationships/image" Target="/ppt/media/image.png" Id="R2a3dea5690b9449a" /><Relationship Type="http://schemas.openxmlformats.org/officeDocument/2006/relationships/notesSlide" Target="/ppt/notesSlides/notesSlide11.xml" Id="R122ca596ac494af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2053f6387a74d52" /><Relationship Type="http://schemas.openxmlformats.org/officeDocument/2006/relationships/image" Target="/ppt/media/image.png" Id="Re772fe9d45b34f48" /><Relationship Type="http://schemas.openxmlformats.org/officeDocument/2006/relationships/notesSlide" Target="/ppt/notesSlides/notesSlide12.xml" Id="Ra36c045476884d3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8c320222c8439c" /><Relationship Type="http://schemas.openxmlformats.org/officeDocument/2006/relationships/image" Target="/ppt/media/image.png" Id="R3ad295163aa347bc" /><Relationship Type="http://schemas.openxmlformats.org/officeDocument/2006/relationships/notesSlide" Target="/ppt/notesSlides/notesSlide13.xml" Id="R328a7fd7c14a47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6b0fe68ba4a4b6b" /><Relationship Type="http://schemas.openxmlformats.org/officeDocument/2006/relationships/image" Target="/ppt/media/image.png" Id="R1c5edd4bde4a4bf8" /><Relationship Type="http://schemas.openxmlformats.org/officeDocument/2006/relationships/notesSlide" Target="/ppt/notesSlides/notesSlide14.xml" Id="Rf03b536f498148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a63988b36ba499e" /><Relationship Type="http://schemas.openxmlformats.org/officeDocument/2006/relationships/image" Target="/ppt/media/image.png" Id="R8e5f5891a27c4e94" /><Relationship Type="http://schemas.openxmlformats.org/officeDocument/2006/relationships/notesSlide" Target="/ppt/notesSlides/notesSlide15.xml" Id="Rfcf70324f4fc4a4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d6b0832f9f1495e" /><Relationship Type="http://schemas.openxmlformats.org/officeDocument/2006/relationships/image" Target="/ppt/media/image.png" Id="R1b459493194a42c9" /><Relationship Type="http://schemas.openxmlformats.org/officeDocument/2006/relationships/notesSlide" Target="/ppt/notesSlides/notesSlide16.xml" Id="R66d76539135c4ce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cd505a54f9a4112" /><Relationship Type="http://schemas.openxmlformats.org/officeDocument/2006/relationships/image" Target="/ppt/media/image.png" Id="R44018fe83a5e4d90" /><Relationship Type="http://schemas.openxmlformats.org/officeDocument/2006/relationships/notesSlide" Target="/ppt/notesSlides/notesSlide17.xml" Id="R489d10da2e2748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e990ec7008c4ba5" /><Relationship Type="http://schemas.openxmlformats.org/officeDocument/2006/relationships/image" Target="/ppt/media/image.png" Id="R0bd4c2ec647b410c" /><Relationship Type="http://schemas.openxmlformats.org/officeDocument/2006/relationships/notesSlide" Target="/ppt/notesSlides/notesSlide18.xml" Id="R8bc85be07a8741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6b271e0bcf048e8" /><Relationship Type="http://schemas.openxmlformats.org/officeDocument/2006/relationships/image" Target="/ppt/media/image.png" Id="Rd9a6c98932174222" /><Relationship Type="http://schemas.openxmlformats.org/officeDocument/2006/relationships/notesSlide" Target="/ppt/notesSlides/notesSlide19.xml" Id="R05afc045e56d443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1c0d593a484467e" /><Relationship Type="http://schemas.openxmlformats.org/officeDocument/2006/relationships/image" Target="/ppt/media/image.png" Id="R15c741dd241945cd" /><Relationship Type="http://schemas.openxmlformats.org/officeDocument/2006/relationships/notesSlide" Target="/ppt/notesSlides/notesSlide20.xml" Id="Ra9a2060cb76f47f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fb311fe5c38b4ae5">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Pre-setup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Terminal (Mac) or PowerShell (Windows).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Clone, then run setup for your OS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scripts/setup.sh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cc477393cc9405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cc477393cc9405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cc477393cc9405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cc477393cc9405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event pipeline</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The probe captures selected Linux syscalls.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libscap reads the stream.</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libsinsp adds process and file context.</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application filters events and prints JSON.</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capture flow</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Linux syscalls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Modern eBPF probe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libscap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libsinsp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workshop-agent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 events</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fc5dda1da739400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fc5dda1da739400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fc5dda1da739400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fc5dda1da739400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inspector loop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the capture engine, then request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Handle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Extract values before calling next()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inspector owns the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(simplified)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Extract fields.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Print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926e78c12ab463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926e78c12ab463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926e78c12ab463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926e78c12ab463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Why state matters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FD number alone does not identify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Process and FD history provide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State repair keeps the syscalls the inspector needs, even when we do not print them.</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syscalls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events::sinsp_repair_state_sc_set(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events::sc_names_to_sc_set({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78734f102474f6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78734f102474f6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78734f102474f6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78734f102474f6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Capture your first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Start the agent in terminal A. Wait for Ready.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cat opening secret.txt and compare it with its execve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with Ctrl-C.</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Host terminal A: enter Ubuntu</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 a second host terminal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Now inside Ubuntu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2853ddb7d32405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2853ddb7d32405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2853ddb7d32405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2853ddb7d32405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1: Read the event fields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Find one successful open.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nonnegative result is an FD. Negative means failure.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An open does not prove the file was read or sent anywhere.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JSON field guide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evt.type       syscall/event 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evt.dir        &lt; means syscall exit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evt.rawres     return value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proc.pid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proc.ppid      parent process 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command and arguments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file/FD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evt.args       event arguments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0b04cfe4598454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0b04cfe4598454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0b04cfe4598454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0b04cfe4598454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Filter the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previous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filter selects successful demo file opens.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Restart the agent, then rerun the demo in terminal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next slide selects failures.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evt.rawres&gt;=0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fd.name startswith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/tmp/falco-workshop.'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Rerun the demo in terminal 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3e4acb822ad4c1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3e4acb822ad4c1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3e4acb822ad4c1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3e4acb822ad4c1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2: Observe failed opens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capture and run this filter.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missing.txt in evt.args.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failed open may lack fd.name, so this filter uses the process name.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--filter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'evt.dir=&lt; and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(open, openat, openat2)</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evt.rawres&lt;0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proc.name=cat'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scripts/demo.sh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84c4e9fa2d547d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84c4e9fa2d547d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84c4e9fa2d547d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84c4e9fa2d547d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Add a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 proc.exepath to the fields vector at LAB 3 in src/main.cpp.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Save, rebuild, restart capture,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added field should identify the executable path.</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main.cpp / Ubuntu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After saving the C++ change: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32ef0301286444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32ef0301286444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32ef0301286444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32ef0301286444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3: Check your new field</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Adding one entry to fields is enough.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existing loops create its extractor and serialize its value.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Compare proc.name, proc.cmdline, and proc.exepath on cat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values (illustrative)</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"proc.name": "cat"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"proc.cmdline": "cat /tmp/.../secret.txt"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"proc.exepath": "/usr/bin/cat"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 invalid field name should cause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 visible startup error.</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context can produce null.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a3dea5690b9449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a3dea5690b9449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a3dea5690b9449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a3dea5690b9449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Detect a dummy secret open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 LAB 4 in src/main.cpp, label successful secret.txt opens by cat in the demo directory.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exit event, open syscall type, numeric result, path, and process.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Try it before viewing the solution.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expected results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secret.txt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hello.txt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head opens secret.txt    no alert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opens missing.txt    no alert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to the matching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"alert": "demo_secret_opened"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772fe9d45b34f4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772fe9d45b34f4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772fe9d45b34f4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772fe9d45b34f4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1</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Insert this at the LAB 4 comment inside the event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Require a successful exit of an open syscall.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Check the result is numeric before treating it as success.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type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row.get("evt.type",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auto path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row.get("fd.name", "").asString();</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std::string suffix = "/secret.txt";</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successful_open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row.get("evt.dir", "").asString() == "&lt;"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 || type == "openat"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type == "openat2")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row["evt.rawres"].isNumeric()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row["evt.rawres"].asInt64() &gt;= 0;</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ad295163aa347b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ad295163aa347b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ad295163aa347b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ad295163aa347b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Solution, part 2</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Continue directly after part 1.</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Match the demo directory prefix and secret.txt suffix.</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Only cat should trigger.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This condition labels an open; it does not block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const bool demo_secret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path.rfind("/tmp/falco-workshop.", 0) == 0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path.size() &gt;= suffix.size()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path.compare(path.size() - suffix.size(),</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suffix.size(), suffix) == 0;</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if(successful_open &amp;&amp; demo_secret &amp;&amp;</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row.get("proc.name", "").asString() == "cat")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row["alert"] = "demo_secret_opened";</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c5edd4bde4a4bf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c5edd4bde4a4bf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c5edd4bde4a4bf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c5edd4bde4a4bf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EXERCISE 4: Verify your detection</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Rebuild and capture into a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Rerun the demo in B, then stop capture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Use jq to inspect the alert.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Confirm the negative examples remain unlabelled.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terminals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scripts/build.sh</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sudo ./build/bin/workshop-agent | tee events.jsonl</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bash scripts/demo.sh</a:t>
            </a:r>
          </a:p>
          <a:p xmlns:a="http://schemas.openxmlformats.org/drawingml/2006/main">
            <a:pPr marL="0" indent="0">
              <a:spcBef>
                <a:spcPts val="0"/>
              </a:spcBef>
              <a:spcAft>
                <a:spcPts val="0"/>
              </a:spcAft>
              <a:buNone/>
            </a:pPr>
            <a:r>
              <a:rPr sz="12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Stop A with Ctrl-C, then in A:</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jq -c 'select(.alert == "demo_secret_opened")'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events.jsonl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e5f5891a27c4e9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e5f5891a27c4e9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e5f5891a27c4e9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e5f5891a27c4e9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connection to node-agent</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This agent uses the same Falco libs revision and capture patterns.</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node-agent adds layered enrichment, asset profiling, and downstream processing.</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Our workshop keeps the core in one C++ file.</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Syscall selection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sc_names_to_sc_set()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State repair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sinsp_repair_state_sc_set()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Engine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open_modern_bpf()</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and output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 Json::writeString()</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1b459493194a42c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1b459493194a42c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1b459493194a42c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1b459493194a42c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94" name="Google Shape;194;p19">
            <a:extLst xmlns:a="http://schemas.openxmlformats.org/drawingml/2006/main">
              <a:ext uri="{FF2B5EF4-FFF2-40B4-BE49-F238E27FC236}">
                <a16:creationId xmlns:a16="http://schemas.microsoft.com/office/drawing/2014/main" id="{118424C5-1810-4C36-A5E6-9516E50F92AA}"/>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5" name="Google Shape;195;p19">
            <a:extLst xmlns:a="http://schemas.openxmlformats.org/drawingml/2006/main">
              <a:ext uri="{FF2B5EF4-FFF2-40B4-BE49-F238E27FC236}">
                <a16:creationId xmlns:a16="http://schemas.microsoft.com/office/drawing/2014/main" id="{C23879A8-EE8C-4BA4-9B57-F8667E161A5F}"/>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7" name="Google Shape;197;p19">
            <a:extLst xmlns:a="http://schemas.openxmlformats.org/drawingml/2006/main">
              <a:ext uri="{FF2B5EF4-FFF2-40B4-BE49-F238E27FC236}">
                <a16:creationId xmlns:a16="http://schemas.microsoft.com/office/drawing/2014/main" id="{919B4F68-17E6-4FA0-8901-06E520FC8FDF}"/>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8" name="Google Shape;198;p19">
            <a:extLst xmlns:a="http://schemas.openxmlformats.org/drawingml/2006/main">
              <a:ext uri="{FF2B5EF4-FFF2-40B4-BE49-F238E27FC236}">
                <a16:creationId xmlns:a16="http://schemas.microsoft.com/office/drawing/2014/main" id="{55314E46-24DE-4217-9377-BD965F862ED0}"/>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9" name="Google Shape;199;p19">
            <a:extLst xmlns:a="http://schemas.openxmlformats.org/drawingml/2006/main">
              <a:ext uri="{FF2B5EF4-FFF2-40B4-BE49-F238E27FC236}">
                <a16:creationId xmlns:a16="http://schemas.microsoft.com/office/drawing/2014/main" id="{586C3286-CD0C-4DE0-8820-E3602ED0EF05}"/>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0" name="Google Shape;200;p19">
            <a:extLst xmlns:a="http://schemas.openxmlformats.org/drawingml/2006/main">
              <a:ext uri="{FF2B5EF4-FFF2-40B4-BE49-F238E27FC236}">
                <a16:creationId xmlns:a16="http://schemas.microsoft.com/office/drawing/2014/main" id="{F448D6A3-45B9-4B15-874D-A28CE8A7925D}"/>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What your agent can explain</a:t>
            </a:r>
          </a:p>
        </p:txBody>
      </p:sp>
      <p:sp>
        <p:nvSpPr>
          <p:cNvPr id="201" name="Google Shape;201;p19">
            <a:extLst xmlns:a="http://schemas.openxmlformats.org/drawingml/2006/main">
              <a:ext uri="{FF2B5EF4-FFF2-40B4-BE49-F238E27FC236}">
                <a16:creationId xmlns:a16="http://schemas.microsoft.com/office/drawing/2014/main" id="{C8E6426D-EA9B-4B23-B044-CD6664C2F7EB}"/>
              </a:ext>
            </a:extLst>
          </p:cNvPr>
          <p:cNvSpPr>
            <a:spLocks xmlns:a="http://schemas.openxmlformats.org/drawingml/2006/main" noGrp="1"/>
          </p:cNvSpPr>
          <p:nvPr/>
        </p:nvSpPr>
        <p:spPr>
          <a:xfrm xmlns:a="http://schemas.openxmlformats.org/drawingml/2006/main">
            <a:off x="304800" y="1219200"/>
            <a:ext cx="39243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2" name="Google Shape;202;p19">
            <a:extLst xmlns:a="http://schemas.openxmlformats.org/drawingml/2006/main">
              <a:ext uri="{FF2B5EF4-FFF2-40B4-BE49-F238E27FC236}">
                <a16:creationId xmlns:a16="http://schemas.microsoft.com/office/drawing/2014/main" id="{8008AF14-9ED6-41C6-9D99-7434952290BC}"/>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3" name="Google Shape;203;p19">
            <a:extLst xmlns:a="http://schemas.openxmlformats.org/drawingml/2006/main">
              <a:ext uri="{FF2B5EF4-FFF2-40B4-BE49-F238E27FC236}">
                <a16:creationId xmlns:a16="http://schemas.microsoft.com/office/drawing/2014/main" id="{AD34F93B-5E7E-4D43-974B-74E161D79CD7}"/>
              </a:ext>
            </a:extLst>
          </p:cNvPr>
          <p:cNvSpPr>
            <a:spLocks xmlns:a="http://schemas.openxmlformats.org/drawingml/2006/main" noGrp="1"/>
          </p:cNvSpPr>
          <p:nvPr/>
        </p:nvSpPr>
        <p:spPr>
          <a:xfrm xmlns:a="http://schemas.openxmlformats.org/drawingml/2006/main">
            <a:off x="571500" y="1447800"/>
            <a:ext cx="3352800" cy="2952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process opened the file?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the syscall succeed?</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Which events did the filter hide?</a:t>
            </a:r>
          </a:p>
          <a:p xmlns:a="http://schemas.openxmlformats.org/drawingml/2006/main">
            <a:pPr marL="0" indent="0">
              <a:spcBef>
                <a:spcPts val="0"/>
              </a:spcBef>
              <a:spcAft>
                <a:spcPts val="0"/>
              </a:spcAft>
              <a:buNone/>
            </a:pPr>
            <a:r>
              <a:rPr sz="1650" b="0" i="0">
                <a:solidFill>
                  <a:srgbClr val="4A5568"/>
                </a:solidFill>
                <a:latin typeface="Inter"/>
                <a:ea typeface="Inter"/>
                <a:cs typeface="Inter"/>
              </a:rPr>
              <a:t/>
            </a:r>
          </a:p>
          <a:p xmlns:a="http://schemas.openxmlformats.org/drawingml/2006/main">
            <a:pPr marL="0" indent="0" algn="l">
              <a:spcBef>
                <a:spcPts val="0"/>
              </a:spcBef>
              <a:spcAft>
                <a:spcPts val="0"/>
              </a:spcAft>
              <a:buNone/>
              <a:defRPr sz="1650" b="0">
                <a:solidFill>
                  <a:srgbClr val="4A5568"/>
                </a:solidFill>
                <a:latin typeface="Inter"/>
                <a:ea typeface="Inter"/>
                <a:cs typeface="Inter"/>
              </a:defRPr>
            </a:pPr>
            <a:r>
              <a:rPr sz="1650" b="0" i="0">
                <a:solidFill>
                  <a:srgbClr val="4A5568"/>
                </a:solidFill>
                <a:latin typeface="Inter"/>
                <a:ea typeface="Inter"/>
                <a:cs typeface="Inter"/>
              </a:rPr>
              <a:t>Did capture report any drops?</a:t>
            </a:r>
          </a:p>
        </p:txBody>
      </p:sp>
      <p:sp>
        <p:nvSpPr>
          <p:cNvPr id="204" name="Google Shape;204;p19">
            <a:extLst xmlns:a="http://schemas.openxmlformats.org/drawingml/2006/main">
              <a:ext uri="{FF2B5EF4-FFF2-40B4-BE49-F238E27FC236}">
                <a16:creationId xmlns:a16="http://schemas.microsoft.com/office/drawing/2014/main" id="{CDAB1A8E-6266-4E0A-BB6E-CA9262062FFA}"/>
              </a:ext>
            </a:extLst>
          </p:cNvPr>
          <p:cNvSpPr>
            <a:spLocks xmlns:a="http://schemas.openxmlformats.org/drawingml/2006/main" noGrp="1"/>
          </p:cNvSpPr>
          <p:nvPr/>
        </p:nvSpPr>
        <p:spPr>
          <a:xfrm xmlns:a="http://schemas.openxmlformats.org/drawingml/2006/main">
            <a:off x="4457700" y="1219200"/>
            <a:ext cx="4381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6" name="Google Shape;206;p19">
            <a:extLst xmlns:a="http://schemas.openxmlformats.org/drawingml/2006/main">
              <a:ext uri="{FF2B5EF4-FFF2-40B4-BE49-F238E27FC236}">
                <a16:creationId xmlns:a16="http://schemas.microsoft.com/office/drawing/2014/main" id="{90235CF9-82A5-4A4E-A995-C991B319ABE7}"/>
              </a:ext>
            </a:extLst>
          </p:cNvPr>
          <p:cNvSpPr>
            <a:spLocks xmlns:a="http://schemas.openxmlformats.org/drawingml/2006/main" noGrp="1"/>
          </p:cNvSpPr>
          <p:nvPr/>
        </p:nvSpPr>
        <p:spPr>
          <a:xfrm xmlns:a="http://schemas.openxmlformats.org/drawingml/2006/main" rot="0" flipH="0" flipV="0">
            <a:off x="4686300"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7" name="Google Shape;207;p19">
            <a:extLst xmlns:a="http://schemas.openxmlformats.org/drawingml/2006/main">
              <a:ext uri="{FF2B5EF4-FFF2-40B4-BE49-F238E27FC236}">
                <a16:creationId xmlns:a16="http://schemas.microsoft.com/office/drawing/2014/main" id="{CF049E9C-3A60-4C1E-85E5-0687610C101D}"/>
              </a:ext>
            </a:extLst>
          </p:cNvPr>
          <p:cNvSpPr>
            <a:spLocks xmlns:a="http://schemas.openxmlformats.org/drawingml/2006/main" noGrp="1"/>
          </p:cNvSpPr>
          <p:nvPr/>
        </p:nvSpPr>
        <p:spPr>
          <a:xfrm xmlns:a="http://schemas.openxmlformats.org/drawingml/2006/main" rot="0" flipH="0" flipV="0">
            <a:off x="4857750"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8" name="Google Shape;208;p19">
            <a:extLst xmlns:a="http://schemas.openxmlformats.org/drawingml/2006/main">
              <a:ext uri="{FF2B5EF4-FFF2-40B4-BE49-F238E27FC236}">
                <a16:creationId xmlns:a16="http://schemas.microsoft.com/office/drawing/2014/main" id="{7E5CDE3A-03F3-4C54-8174-4FD6097F6F5C}"/>
              </a:ext>
            </a:extLst>
          </p:cNvPr>
          <p:cNvSpPr>
            <a:spLocks xmlns:a="http://schemas.openxmlformats.org/drawingml/2006/main" noGrp="1"/>
          </p:cNvSpPr>
          <p:nvPr/>
        </p:nvSpPr>
        <p:spPr>
          <a:xfrm xmlns:a="http://schemas.openxmlformats.org/drawingml/2006/main" rot="0" flipH="0" flipV="0">
            <a:off x="5029200"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9" name="Google Shape;209;p19">
            <a:extLst xmlns:a="http://schemas.openxmlformats.org/drawingml/2006/main">
              <a:ext uri="{FF2B5EF4-FFF2-40B4-BE49-F238E27FC236}">
                <a16:creationId xmlns:a16="http://schemas.microsoft.com/office/drawing/2014/main" id="{479A04ED-5179-4B54-981E-972A8A2DBAA6}"/>
              </a:ext>
            </a:extLst>
          </p:cNvPr>
          <p:cNvSpPr>
            <a:spLocks xmlns:a="http://schemas.openxmlformats.org/drawingml/2006/main" noGrp="1"/>
          </p:cNvSpPr>
          <p:nvPr/>
        </p:nvSpPr>
        <p:spPr>
          <a:xfrm xmlns:a="http://schemas.openxmlformats.org/drawingml/2006/main">
            <a:off x="5295900" y="1352550"/>
            <a:ext cx="1905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shutdown counters</a:t>
            </a:r>
          </a:p>
        </p:txBody>
      </p:sp>
      <p:sp>
        <p:nvSpPr>
          <p:cNvPr id="210" name="Google Shape;210;p19">
            <a:extLst xmlns:a="http://schemas.openxmlformats.org/drawingml/2006/main">
              <a:ext uri="{FF2B5EF4-FFF2-40B4-BE49-F238E27FC236}">
                <a16:creationId xmlns:a16="http://schemas.microsoft.com/office/drawing/2014/main" id="{76159C77-A0AF-44C9-BA4B-3BE4035B3321}"/>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1" name="Google Shape;211;p19">
            <a:extLst xmlns:a="http://schemas.openxmlformats.org/drawingml/2006/main">
              <a:ext uri="{FF2B5EF4-FFF2-40B4-BE49-F238E27FC236}">
                <a16:creationId xmlns:a16="http://schemas.microsoft.com/office/drawing/2014/main" id="{DBECA152-AE8F-4009-92CF-B2FD00CDDF87}"/>
              </a:ext>
            </a:extLst>
          </p:cNvPr>
          <p:cNvSpPr>
            <a:spLocks xmlns:a="http://schemas.openxmlformats.org/drawingml/2006/main" noGrp="1"/>
          </p:cNvSpPr>
          <p:nvPr/>
        </p:nvSpPr>
        <p:spPr>
          <a:xfrm xmlns:a="http://schemas.openxmlformats.org/drawingml/2006/main">
            <a:off x="4686300" y="1828800"/>
            <a:ext cx="3924300" cy="2571900"/>
          </a:xfrm>
          <a:prstGeom xmlns:a="http://schemas.openxmlformats.org/drawingml/2006/main" prst="rect">
            <a:avLst/>
          </a:prstGeom>
          <a:solidFill xmlns:a="http://schemas.openxmlformats.org/drawingml/2006/main">
            <a:srgbClr val="000000">
              <a:alpha val="0"/>
            </a:srgbClr>
          </a:solidFill>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printed as JSON</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Includes state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and filtered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 lost during 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Ctrl-C stops the agent.</a:t>
            </a:r>
          </a:p>
        </p:txBody>
      </p:sp>
      <p:sp>
        <p:nvSpPr>
          <p:cNvPr id="213" name="Google Shape;213;p19">
            <a:extLst xmlns:a="http://schemas.openxmlformats.org/drawingml/2006/main">
              <a:ext uri="{FF2B5EF4-FFF2-40B4-BE49-F238E27FC236}">
                <a16:creationId xmlns:a16="http://schemas.microsoft.com/office/drawing/2014/main" id="{7148819F-1801-4CAA-958D-13F297736240}"/>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4" name="Google Shape;214;p19">
            <a:extLst xmlns:a="http://schemas.openxmlformats.org/drawingml/2006/main">
              <a:ext uri="{FF2B5EF4-FFF2-40B4-BE49-F238E27FC236}">
                <a16:creationId xmlns:a16="http://schemas.microsoft.com/office/drawing/2014/main" id="{0A8EB590-078A-467D-8BA5-937B20E96E11}"/>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5" name="Google Shape;215;p19">
            <a:extLst xmlns:a="http://schemas.openxmlformats.org/drawingml/2006/main">
              <a:ext uri="{FF2B5EF4-FFF2-40B4-BE49-F238E27FC236}">
                <a16:creationId xmlns:a16="http://schemas.microsoft.com/office/drawing/2014/main" id="{E7D53FD7-E48D-4A18-A954-5E816732FE97}"/>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6" name="Google Shape;216;p19">
            <a:extLst xmlns:a="http://schemas.openxmlformats.org/drawingml/2006/main">
              <a:ext uri="{FF2B5EF4-FFF2-40B4-BE49-F238E27FC236}">
                <a16:creationId xmlns:a16="http://schemas.microsoft.com/office/drawing/2014/main" id="{1B3532BB-5FD2-4717-9C45-A9B2474B4936}"/>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7" name="Google Shape;217;p19">
            <a:extLst xmlns:a="http://schemas.openxmlformats.org/drawingml/2006/main">
              <a:ext uri="{FF2B5EF4-FFF2-40B4-BE49-F238E27FC236}">
                <a16:creationId xmlns:a16="http://schemas.microsoft.com/office/drawing/2014/main" id="{A394533D-3C72-448C-86EE-CF59D0B25FA4}"/>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8" name="Google Shape;218;p19">
            <a:extLst xmlns:a="http://schemas.openxmlformats.org/drawingml/2006/main">
              <a:ext uri="{FF2B5EF4-FFF2-40B4-BE49-F238E27FC236}">
                <a16:creationId xmlns:a16="http://schemas.microsoft.com/office/drawing/2014/main" id="{A8B0A60C-389B-46EA-A733-2A4D9BFA0091}"/>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9">
            <a:extLst xmlns:a="http://schemas.openxmlformats.org/drawingml/2006/main">
              <a:ext uri="{FF2B5EF4-FFF2-40B4-BE49-F238E27FC236}">
                <a16:creationId xmlns:a16="http://schemas.microsoft.com/office/drawing/2014/main" id="{81B363AD-7E68-47EC-8177-BB185A7AB693}"/>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0" name="Google Shape;220;p19">
            <a:extLst xmlns:a="http://schemas.openxmlformats.org/drawingml/2006/main">
              <a:ext uri="{FF2B5EF4-FFF2-40B4-BE49-F238E27FC236}">
                <a16:creationId xmlns:a16="http://schemas.microsoft.com/office/drawing/2014/main" id="{AF8CCEF5-7007-44EE-BDC0-8D83E0950FA7}"/>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1" name="Google Shape;221;p19">
            <a:extLst xmlns:a="http://schemas.openxmlformats.org/drawingml/2006/main">
              <a:ext uri="{FF2B5EF4-FFF2-40B4-BE49-F238E27FC236}">
                <a16:creationId xmlns:a16="http://schemas.microsoft.com/office/drawing/2014/main" id="{A7033ED7-F44E-4369-BFAE-9592822DB80B}"/>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2" name="Google Shape;222;p19">
            <a:extLst xmlns:a="http://schemas.openxmlformats.org/drawingml/2006/main">
              <a:ext uri="{FF2B5EF4-FFF2-40B4-BE49-F238E27FC236}">
                <a16:creationId xmlns:a16="http://schemas.microsoft.com/office/drawing/2014/main" id="{90BF1123-5EEB-4844-B835-40A644CEBDB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3" name="Google Shape;223;p19">
            <a:extLst xmlns:a="http://schemas.openxmlformats.org/drawingml/2006/main">
              <a:ext uri="{FF2B5EF4-FFF2-40B4-BE49-F238E27FC236}">
                <a16:creationId xmlns:a16="http://schemas.microsoft.com/office/drawing/2014/main" id="{00C42106-339D-4A4E-A939-FC5DF288C017}"/>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4" name="Google Shape;224;p19">
            <a:extLst xmlns:a="http://schemas.openxmlformats.org/drawingml/2006/main">
              <a:ext uri="{FF2B5EF4-FFF2-40B4-BE49-F238E27FC236}">
                <a16:creationId xmlns:a16="http://schemas.microsoft.com/office/drawing/2014/main" id="{3F635318-BFC7-4B96-B4E6-353D955C1F0D}"/>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62" name="Google Shape;225;p19"/>
          <p:cNvPicPr>
            <a:picLocks xmlns:a="http://schemas.openxmlformats.org/drawingml/2006/main" noChangeAspect="1"/>
          </p:cNvPicPr>
          <p:nvPr/>
        </p:nvPicPr>
        <p:blipFill rotWithShape="1">
          <a:blip xmlns:r="http://schemas.openxmlformats.org/officeDocument/2006/relationships" xmlns:a="http://schemas.openxmlformats.org/drawingml/2006/main" r:embed="R44018fe83a5e4d9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263" name="Google Shape;226;p19"/>
          <p:cNvPicPr>
            <a:picLocks xmlns:a="http://schemas.openxmlformats.org/drawingml/2006/main" noChangeAspect="1"/>
          </p:cNvPicPr>
          <p:nvPr/>
        </p:nvPicPr>
        <p:blipFill rotWithShape="1">
          <a:blip xmlns:r="http://schemas.openxmlformats.org/officeDocument/2006/relationships" xmlns:a="http://schemas.openxmlformats.org/drawingml/2006/main" r:embed="R44018fe83a5e4d9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264" name="Google Shape;227;p19"/>
          <p:cNvPicPr>
            <a:picLocks xmlns:a="http://schemas.openxmlformats.org/drawingml/2006/main" noChangeAspect="1"/>
          </p:cNvPicPr>
          <p:nvPr/>
        </p:nvPicPr>
        <p:blipFill rotWithShape="1">
          <a:blip xmlns:r="http://schemas.openxmlformats.org/officeDocument/2006/relationships" xmlns:a="http://schemas.openxmlformats.org/drawingml/2006/main" r:embed="R44018fe83a5e4d9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265" name="Google Shape;228;p19"/>
          <p:cNvPicPr>
            <a:picLocks xmlns:a="http://schemas.openxmlformats.org/drawingml/2006/main" noChangeAspect="1"/>
          </p:cNvPicPr>
          <p:nvPr/>
        </p:nvPicPr>
        <p:blipFill rotWithShape="1">
          <a:blip xmlns:r="http://schemas.openxmlformats.org/officeDocument/2006/relationships" xmlns:a="http://schemas.openxmlformats.org/drawingml/2006/main" r:embed="R44018fe83a5e4d9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229" name="Google Shape;229;p19">
            <a:extLst xmlns:a="http://schemas.openxmlformats.org/drawingml/2006/main">
              <a:ext uri="{FF2B5EF4-FFF2-40B4-BE49-F238E27FC236}">
                <a16:creationId xmlns:a16="http://schemas.microsoft.com/office/drawing/2014/main" id="{CF82DDB7-7EDC-4106-85E1-7638516E197F}"/>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6268409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setup and capture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Command not found? Reopen the host terminal after installing Multipass.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BPF permission error? Use sudo inside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Missing BTF? Use the stock Ubuntu 24.04 kernel.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Ubuntu VM</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Missing kernel tools / bpftool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update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apt-get install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linux-generic linux-tools-generic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reboot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Re-enter the VM after reboot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bd4c2ec647b410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bd4c2ec647b410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bd4c2ec647b410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bd4c2ec647b410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Troubleshooting: event output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No demo events? Wait for Ready and use the same VM in both terminals.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Remove custom filters and rerun the demo.</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Invalid field/filter? Check spelling against the pinned libs.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what the output means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fd.name is null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 may have no valid FD context.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evt.args and evt.rawres.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captured &gt; emitted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State events and filters explain 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dropped &gt;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Retry on an idle VM.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Broad capture or slow output can lose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events.</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9a6c9893217422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9a6c9893217422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9a6c9893217422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9a6c9893217422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 stop or remove the VM</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to keep your work.</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Before deleting it, copy out any source changes you want to keep.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Delete only when finished. That permanently removes the VM and its files.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Keep the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Save source: shown in Mac Terminal</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transfer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falco-lab:falco-libs-workshop/src/main.cpp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main-workshop.cpp</a:t>
            </a:r>
          </a:p>
          <a:p xmlns:a="http://schemas.openxmlformats.org/drawingml/2006/main">
            <a:pPr marL="0" indent="0">
              <a:spcBef>
                <a:spcPts val="0"/>
              </a:spcBef>
              <a:spcAft>
                <a:spcPts val="0"/>
              </a:spcAft>
              <a:buNone/>
            </a:pPr>
            <a:r>
              <a:rPr sz="1275"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 Permanently delete the lab VM</a:t>
            </a:r>
          </a:p>
          <a:p xmlns:a="http://schemas.openxmlformats.org/drawingml/2006/main">
            <a:pPr marL="0" indent="0" algn="l">
              <a:spcBef>
                <a:spcPts val="0"/>
              </a:spcBef>
              <a:spcAft>
                <a:spcPts val="0"/>
              </a:spcAft>
              <a:buNone/>
              <a:defRPr sz="1275" b="0">
                <a:solidFill>
                  <a:srgbClr val="00E5FF"/>
                </a:solidFill>
                <a:latin typeface="Roboto Mono"/>
                <a:ea typeface="Roboto Mono"/>
                <a:cs typeface="Roboto Mono"/>
              </a:defRPr>
            </a:pPr>
            <a:r>
              <a:rPr sz="1275" b="0" i="0">
                <a:solidFill>
                  <a:srgbClr val="00E5FF"/>
                </a:solidFill>
                <a:latin typeface="Roboto Mono"/>
                <a:ea typeface="Roboto Mono"/>
                <a:cs typeface="Roboto Mono"/>
              </a:rPr>
              <a:t>multipass delete --purge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5c741dd241945c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5c741dd241945c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5c741dd241945c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5c741dd241945c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2026-10-01T21:57:36.8070000Z</dcterms:created>
  <dcterms:modified xsi:type="dcterms:W3CDTF">2026-10-01T21:57:36.8070000Z</dcterms:modified>
</coreProperties>
</file>